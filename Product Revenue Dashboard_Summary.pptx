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2198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D97D30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48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97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PERFORMANCE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Revenue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Dashboard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9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Camping Equipment · Mountaineering Equipment · Outdoor Protection — via chiclet slicer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846320"/>
            <a:ext cx="1828800" cy="0"/>
          </a:xfrm>
          <a:prstGeom prst="line">
            <a:avLst/>
          </a:prstGeom>
          <a:noFill/>
          <a:ln w="25400">
            <a:solidFill>
              <a:srgbClr val="D97D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029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·  Filterable by Year &amp; Category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7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64592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Page, Three Categories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01168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chiclet slicer switches every visual between Camping Equipment, Mountaineering Equipment, and Outdoor Protection.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78892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Filterable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15468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by Year and Category chiclet to move from company-wide down to a single product.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93192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Fast Answers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29768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monthly trend, top products, and retailer breakdowns refresh instantly per category.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2104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97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CHICLET SLICER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321040" y="173736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E7EFD9"/>
          </a:solidFill>
          <a:ln/>
        </p:spPr>
      </p:sp>
      <p:sp>
        <p:nvSpPr>
          <p:cNvPr id="18" name="Text 16"/>
          <p:cNvSpPr/>
          <p:nvPr/>
        </p:nvSpPr>
        <p:spPr>
          <a:xfrm>
            <a:off x="8549640" y="17373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Camping Equipment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321040" y="288036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E7EFD9"/>
          </a:solidFill>
          <a:ln/>
        </p:spPr>
      </p:sp>
      <p:sp>
        <p:nvSpPr>
          <p:cNvPr id="20" name="Text 18"/>
          <p:cNvSpPr/>
          <p:nvPr/>
        </p:nvSpPr>
        <p:spPr>
          <a:xfrm>
            <a:off x="8549640" y="28803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Mountaineering Equipment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321040" y="402336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8549640" y="40233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Outdoor Protection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21040" y="5212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view: Outdoor Protection selected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Revenue Performance Dashboard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3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7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7E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spans three categories, many products, retailer cities, and channels — making it hard to see where revenue and profit are actually concentrated in each line.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79192"/>
            <a:ext cx="128016" cy="128016"/>
          </a:xfrm>
          <a:prstGeom prst="ellipse">
            <a:avLst/>
          </a:prstGeom>
          <a:solidFill>
            <a:srgbClr val="D97D3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606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revenue growing or shrinking by category, and is it seasonal?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364992"/>
            <a:ext cx="128016" cy="128016"/>
          </a:xfrm>
          <a:prstGeom prst="ellipse">
            <a:avLst/>
          </a:prstGeom>
          <a:solidFill>
            <a:srgbClr val="D97D30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291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actually drive revenue and profit in each category?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050792"/>
            <a:ext cx="128016" cy="128016"/>
          </a:xfrm>
          <a:prstGeom prst="ellipse">
            <a:avLst/>
          </a:prstGeom>
          <a:solidFill>
            <a:srgbClr val="D97D3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customers buying proactively or urgently?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736592"/>
            <a:ext cx="128016" cy="128016"/>
          </a:xfrm>
          <a:prstGeom prst="ellipse">
            <a:avLst/>
          </a:prstGeom>
          <a:solidFill>
            <a:srgbClr val="D97D30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63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retailer cities &amp; channels deserve more investment?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56235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category and channel decisions made without clear visibility into where revenue is really coming from.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7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7EFD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10512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Revenue, COGS, Profit &amp; Margin per category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35040" y="16459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7EFD9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03720" y="1810512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top-performing products per category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7EF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5204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456432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monthly revenue seasonality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35040" y="329184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7EFD9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35204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03720" y="3456432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revenue by purchase urgency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7EFD9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1663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5102352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retailer cities &amp; channel types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035040" y="493776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7EFD9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3640" y="51663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03720" y="5102352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one slicer-driven, self-service view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Revenue Performance Dashboard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7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607040" cy="1280160"/>
          </a:xfrm>
          <a:prstGeom prst="roundRect">
            <a:avLst>
              <a:gd name="adj" fmla="val 7143"/>
            </a:avLst>
          </a:prstGeom>
          <a:solidFill>
            <a:srgbClr val="E7EFD9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19385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/ Orders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37360" y="2395728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Category, Revenue, COGS, Profit, Month, Year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0607040" cy="1280160"/>
          </a:xfrm>
          <a:prstGeom prst="roundRect">
            <a:avLst>
              <a:gd name="adj" fmla="val 7143"/>
            </a:avLst>
          </a:prstGeom>
          <a:solidFill>
            <a:srgbClr val="E7EFD9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6118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11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37360" y="34930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Retailers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737360" y="3950208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City, Retailer Type, Revenue, Profit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10607040" cy="1280160"/>
          </a:xfrm>
          <a:prstGeom prst="roundRect">
            <a:avLst>
              <a:gd name="adj" fmla="val 7143"/>
            </a:avLst>
          </a:prstGeom>
          <a:solidFill>
            <a:srgbClr val="E7EFD9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51663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166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37360" y="50474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Context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737360" y="5504688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Flag (Urgent / Not Urgent), Revenue by Urgency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Revenue Performance Dashboard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D3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97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PREVIEW  ·  OUTDOOR PROTECTION CHICLET SELECTED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Revenue Performance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434706" y="1344168"/>
            <a:ext cx="9322283" cy="5038344"/>
          </a:xfrm>
          <a:prstGeom prst="roundRect">
            <a:avLst>
              <a:gd name="adj" fmla="val 108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/mnt/user-data/outputs/outdoor_screenshots/revenue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858" y="1417320"/>
            <a:ext cx="9175979" cy="4892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5105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9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different chiclet (Camping / Mountaineering) and every visual updates for that category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7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for the Outdoor Protection chiclet — figures update per category selected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E7EFD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4688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$7.51M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3429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83280" y="201168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E7EFD9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4688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$2.86M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20440" y="3429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201168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4688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$4.65M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355080" y="3429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9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52560" y="201168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9189720" y="24688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61.91%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189720" y="3429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9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Revenue Performance Dashboard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7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Questions &amp; Insights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using the Outdoor Protection chiclet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E7EFD9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11680"/>
            <a:ext cx="146304" cy="146304"/>
          </a:xfrm>
          <a:prstGeom prst="ellipse">
            <a:avLst/>
          </a:prstGeom>
          <a:solidFill>
            <a:srgbClr val="D97D30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92938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51560" y="23317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leads at $0.74M, declining to $0.49M by Sept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E7EFD9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2011680"/>
            <a:ext cx="146304" cy="146304"/>
          </a:xfrm>
          <a:prstGeom prst="ellipse">
            <a:avLst/>
          </a:prstGeom>
          <a:solidFill>
            <a:srgbClr val="D97D30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192938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20840" y="23317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item hits $1.75M — 2x the #2 product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E7EF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429000"/>
            <a:ext cx="146304" cy="146304"/>
          </a:xfrm>
          <a:prstGeom prst="ellipse">
            <a:avLst/>
          </a:prstGeom>
          <a:solidFill>
            <a:srgbClr val="D97D30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34670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or planned?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51560" y="374904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65.6% non-urgent ($4.93M) vs 34.4% urgent ($2.58M)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32004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E7EFD9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6520" y="3429000"/>
            <a:ext cx="146304" cy="146304"/>
          </a:xfrm>
          <a:prstGeom prst="ellipse">
            <a:avLst/>
          </a:prstGeom>
          <a:solidFill>
            <a:srgbClr val="D97D30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334670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retailer city?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720840" y="374904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Calgary leads: $259K revenue, $165K profit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E7EFD9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4846320"/>
            <a:ext cx="146304" cy="146304"/>
          </a:xfrm>
          <a:prstGeom prst="ellipse">
            <a:avLst/>
          </a:prstGeom>
          <a:solidFill>
            <a:srgbClr val="D97D30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476402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channel?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51560" y="516636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Store leads at $2.25M revenue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Revenue Performance Dashboard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D3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7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607040" cy="1005840"/>
          </a:xfrm>
          <a:prstGeom prst="roundRect">
            <a:avLst>
              <a:gd name="adj" fmla="val 9091"/>
            </a:avLst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365760" cy="365760"/>
          </a:xfrm>
          <a:prstGeom prst="ellipse">
            <a:avLst/>
          </a:prstGeom>
          <a:solidFill>
            <a:srgbClr val="D97D3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783080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61.91% margin shows strong pricing power in this category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953512"/>
            <a:ext cx="10607040" cy="1005840"/>
          </a:xfrm>
          <a:prstGeom prst="roundRect">
            <a:avLst>
              <a:gd name="adj" fmla="val 9091"/>
            </a:avLst>
          </a:prstGeom>
          <a:solidFill>
            <a:srgbClr val="2C5F2D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3273552"/>
            <a:ext cx="365760" cy="365760"/>
          </a:xfrm>
          <a:prstGeom prst="ellipse">
            <a:avLst/>
          </a:prstGeom>
          <a:solidFill>
            <a:srgbClr val="D97D3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953512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seasonality — revenue peaks in July, fades by September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123944"/>
            <a:ext cx="10607040" cy="1005840"/>
          </a:xfrm>
          <a:prstGeom prst="roundRect">
            <a:avLst>
              <a:gd name="adj" fmla="val 9091"/>
            </a:avLst>
          </a:prstGeom>
          <a:solidFill>
            <a:srgbClr val="2C5F2D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4443984"/>
            <a:ext cx="365760" cy="365760"/>
          </a:xfrm>
          <a:prstGeom prst="ellipse">
            <a:avLst/>
          </a:prstGeom>
          <a:solidFill>
            <a:srgbClr val="D97D30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4123944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 carries outsized weight — a concentration risk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5294376"/>
            <a:ext cx="10607040" cy="1005840"/>
          </a:xfrm>
          <a:prstGeom prst="roundRect">
            <a:avLst>
              <a:gd name="adj" fmla="val 9091"/>
            </a:avLst>
          </a:prstGeom>
          <a:solidFill>
            <a:srgbClr val="2C5F2D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5614416"/>
            <a:ext cx="365760" cy="365760"/>
          </a:xfrm>
          <a:prstGeom prst="ellipse">
            <a:avLst/>
          </a:prstGeom>
          <a:solidFill>
            <a:srgbClr val="D97D30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5294376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~66% of revenue is planned, not emergency, purchasing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7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E7EFD9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562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7D30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691640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inventory &amp; promotions ahead of the July peak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E7EFD9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788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7D30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2624328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beyond the top SKU with mid-tier product pushes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E7EF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7216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7D30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721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557016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early-bird offers to pull forward planned purchases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E7EFD9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6542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7D30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6542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4489704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investment in Calgary &amp; Beijing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422392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E7EFD9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55869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7D30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5586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5422392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Direct Marketing, Outdoors Shop &amp; Sports Store channels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Revenue Performance Dashboard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D3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7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9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Longer-term moves for the business, beyond the immediate recommendations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457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D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196596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into categories that offset seasonal dips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18745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1874520"/>
            <a:ext cx="457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D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903720" y="196596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more hero products to spread revenue risk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246120"/>
            <a:ext cx="457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D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333756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direct-to-consumer (e-commerce) channel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32461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3246120"/>
            <a:ext cx="457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D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03720" y="333756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loyalty program for planned-purchase buyers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17720"/>
            <a:ext cx="457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D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25880" y="470916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 presence in high-potential retailer cities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26480" y="46177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617720"/>
            <a:ext cx="457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D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03720" y="470916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private-label &amp; bundled product kits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626</Words>
  <Application>Microsoft Office PowerPoint</Application>
  <PresentationFormat>Widescreen</PresentationFormat>
  <Paragraphs>137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Abdulsalam Khadijat</cp:lastModifiedBy>
  <cp:revision>1</cp:revision>
  <dcterms:created xsi:type="dcterms:W3CDTF">2026-08-09T00:28:06Z</dcterms:created>
  <dcterms:modified xsi:type="dcterms:W3CDTF">2026-08-09T00:34:44Z</dcterms:modified>
</cp:coreProperties>
</file>